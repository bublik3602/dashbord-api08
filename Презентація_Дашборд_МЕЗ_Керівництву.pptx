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284C7"/>
                </a:solidFill>
              </a:defRPr>
            </a:pPr>
            <a:r>
              <a:t>ТОВ «АГРОПРОІНВЕСТ 08»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СИТУАЦІЙНИЙ ЦЕНТР ТА ЦИФРОВИЙ ДАШБОРД МЕЗ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Комплексний онлайн-моніторинг виробництва, матеріального балансу, логістики транспорту та балансу енергоресурсів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Презентація для Ради Директорів та Вищого Керівництва • Сезон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ТОВ «АГРОПРОІНВЕСТ 08» • СИТУАЦІЙНИЙ ЦЕНТР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Ключова бізнес-цінність: 4 контури цифрового управління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Дашборд МЕЗ: dash-api08.dniprovska.net • Конфіденційно • Для керівництва заводу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606040" cy="73152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2423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Блок А: Виробництво та Якість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Онлайн матеріальний баланс цеху екстракції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Вихід готової продукції (Олія, Шрот, Лузга)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Лабораторія якості насіння (товарна олійність 44,03%)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Баланс та аудит неврахованих втрат олії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280160"/>
            <a:ext cx="2606040" cy="731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325880"/>
            <a:ext cx="2423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Блок Б: Логістика автотранспорту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4884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Інтеграція з CRM apgk_api08 (Тільки читання)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Воронка машин: Насіння, Олія, Шрот, Лузга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Контроль нормативу простою авто (&lt; 120 хв)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Облік складських залишків готової продукції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28016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280160"/>
            <a:ext cx="2606040" cy="7315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25880"/>
            <a:ext cx="2423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Блок В: Енергетика та Ресурси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14884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12-річний повний архів пари (2015–2026 рр.)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Помісячний архів електроенергії за 2026 рік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Розподіл кВт, води, стоків та газу по цехах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Інтерактивні селектори вибору місяця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28016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256" y="1280160"/>
            <a:ext cx="2606040" cy="73152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1325880"/>
            <a:ext cx="2423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Блок Г: Бенчмаркінг 2026 vs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14884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Зіставлення фактів: Доба, Тиждень, Місяць, Сезон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Випередження бази 2025 року за виходом олії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Контроль виконання контрактів та довіз сировини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• Оперативні сповіщення при ризиках втрат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ТОВ «АГРОПРОІНВЕСТ 08» • СИТУАЦІЙНИЙ ЦЕНТР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Блок А: Матеріальний баланс та виробнича ефективність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Дашборд МЕЗ: dash-api08.dniprovska.net • Конфіденційно • Для керівництва заводу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ФАКТИЧНІ ПОКАЗНИКИ РОБОТИ (15.10.2026)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Перероблено соняшнику (очищене): </a:t>
            </a:r>
            <a:r>
              <a:rPr b="1">
                <a:solidFill>
                  <a:srgbClr val="0369A1"/>
                </a:solidFill>
              </a:rPr>
              <a:t>308,98 т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Добовий план: 600,0 т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Вихід Олії нерафінованої: </a:t>
            </a:r>
            <a:r>
              <a:rPr b="1">
                <a:solidFill>
                  <a:srgbClr val="0369A1"/>
                </a:solidFill>
              </a:rPr>
              <a:t>149,28 т (48,31%)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Еталон 2025: 44,45% (+3,86%)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Вихід Шроту соняшникового: </a:t>
            </a:r>
            <a:r>
              <a:rPr b="1">
                <a:solidFill>
                  <a:srgbClr val="0369A1"/>
                </a:solidFill>
              </a:rPr>
              <a:t>156,13 т (50,53%)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Еталон 2025: 41,76% (+8,77%)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Вихід Лузги сухої: </a:t>
            </a:r>
            <a:r>
              <a:rPr b="1">
                <a:solidFill>
                  <a:srgbClr val="0369A1"/>
                </a:solidFill>
              </a:rPr>
              <a:t>45,95 т (14,87%)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Паливо на власну котельню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Сума виходу (Олія + Шрот): </a:t>
            </a:r>
            <a:r>
              <a:rPr b="1">
                <a:solidFill>
                  <a:srgbClr val="0369A1"/>
                </a:solidFill>
              </a:rPr>
              <a:t>98,84%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Висока ефективність екстракції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Загальний баланс продукції: </a:t>
            </a:r>
            <a:r>
              <a:rPr b="1">
                <a:solidFill>
                  <a:srgbClr val="0369A1"/>
                </a:solidFill>
              </a:rPr>
              <a:t>113,72%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+13,72% перевищення балансу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59669"/>
                </a:solidFill>
              </a:defRPr>
            </a:pPr>
            <a:r>
              <a:t>КЛЮЧОВІ АЛГОРИТМИ ТА ВРАХУВАННЯ ПРОСТОЇВ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1. Чітке відокремлення робочих діб та простою: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Коли за добу МЕЗ переробка становить 0 т (наприклад, 16–18.10), система виводить спеціальне сповіщення «МЕЗ: переробка на паузі», не викривляє відсотки і запобігає діленню на нуль.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2. Розмежування втрат: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Втрати підробки елеватора (1,45% / 53,6 т) чітко відокремлені від виробничих втрат екстракції, що забезпечує прозору відповідальність між підрозділами.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3. Баланс позитивного перевищення (+):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При переробці високоолійного соняшнику загальний вихід продукції перевищує 100%, що фіксується зеленим бейджем «Перевищення виходу продукції».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4. Розрахунок питомих показників: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Всі питомі енерговитрати прив'язані до фактичного очищеного насіння в переробці, що дає реальну картину собівартості тони.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ТОВ «АГРОПРОІНВЕСТ 08» • СИТУАЦІЙНИЙ ЦЕНТР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Блок А: Лабораторія якості та аудит втрат олії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Дашборд МЕЗ: dash-api08.dniprovska.net • Конфіденційно • Для керівництва заводу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19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🧪 Товарна олійність сировини</a:t>
            </a:r>
          </a:p>
          <a:p>
            <a:pPr>
              <a:defRPr sz="2400" b="1">
                <a:solidFill>
                  <a:srgbClr val="0284C7"/>
                </a:solidFill>
              </a:defRPr>
            </a:pPr>
            <a:r>
              <a:t>44,03%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на а.с.р. 47,00% – 47,99%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17319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💧 Вологість насіння в цех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6,20% — 6,30%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Базовий норматив &lt; 8,0%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417319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🍂 Смітна домішка сировини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1,71% — 2,18%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Базовий норматив &lt; 2,0%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БАЛАНС ВТРАТ ОЛІЇ ЗА ЗВІТОМ МЕЗ («СПРАВКА ПО ПЕРЕРАБОТКЕ»)</a:t>
            </a:r>
          </a:p>
          <a:p>
            <a:pPr>
              <a:spcAft>
                <a:spcPts val="600"/>
              </a:spcAft>
              <a:defRPr b="1" sz="1100">
                <a:solidFill>
                  <a:srgbClr val="1E293B"/>
                </a:solidFill>
              </a:defRPr>
            </a:pPr>
            <a:r>
              <a:t>• Втрати олії в шроті (олійність шроту 0,77%): </a:t>
            </a:r>
            <a:r>
              <a:rPr b="0" sz="1050">
                <a:solidFill>
                  <a:srgbClr val="64748B"/>
                </a:solidFill>
              </a:rPr>
              <a:t>1 202,3 кг (за добу 15.10) • 16 260,9 кг (за місяць). Показник значно нижче технологічної межі (норма до 1,0%), що доводить ефективну роботу екстрактора.</a:t>
            </a:r>
          </a:p>
          <a:p>
            <a:pPr>
              <a:spcAft>
                <a:spcPts val="600"/>
              </a:spcAft>
              <a:defRPr b="1" sz="1100">
                <a:solidFill>
                  <a:srgbClr val="1E293B"/>
                </a:solidFill>
              </a:defRPr>
            </a:pPr>
            <a:r>
              <a:t>• Втрати олії в луззі (олійність лузги 3,27%): </a:t>
            </a:r>
            <a:r>
              <a:rPr b="0" sz="1050">
                <a:solidFill>
                  <a:srgbClr val="64748B"/>
                </a:solidFill>
              </a:rPr>
              <a:t>1 502,1 кг (за добу 15.10) • 24 997,0 кг (за місяць). Контролюється в процесі рушкувально-війочного відділення.</a:t>
            </a:r>
          </a:p>
          <a:p>
            <a:pPr>
              <a:spcAft>
                <a:spcPts val="600"/>
              </a:spcAft>
              <a:defRPr b="1" sz="1100">
                <a:solidFill>
                  <a:srgbClr val="1E293B"/>
                </a:solidFill>
              </a:defRPr>
            </a:pPr>
            <a:r>
              <a:t>• Враховані втрати олії: </a:t>
            </a:r>
            <a:r>
              <a:rPr b="0" sz="1050">
                <a:solidFill>
                  <a:srgbClr val="64748B"/>
                </a:solidFill>
              </a:rPr>
              <a:t>2 704,4 кг (0,87% від маси насіння). Фактичні технологічні втрати в межах норми регламенту.</a:t>
            </a:r>
          </a:p>
          <a:p>
            <a:pPr>
              <a:spcAft>
                <a:spcPts val="600"/>
              </a:spcAft>
              <a:defRPr b="1" sz="1100">
                <a:solidFill>
                  <a:srgbClr val="1E293B"/>
                </a:solidFill>
              </a:defRPr>
            </a:pPr>
            <a:r>
              <a:t>• Невраховані втрати олії: </a:t>
            </a:r>
            <a:r>
              <a:rPr b="0" sz="1050">
                <a:solidFill>
                  <a:srgbClr val="64748B"/>
                </a:solidFill>
              </a:rPr>
              <a:t>-15 936,5 кг (-5,16% — негативний баланс втрат). Свідчить про те, що реальний вихід товарної олії перевищив попередній розрахунковий прогноз лабораторії.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ТОВ «АГРОПРОІНВЕСТ 08» • СИТУАЦІЙНИЙ ЦЕНТР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Блок Б: Логістика автотранспорту та складські залишки (СВОД)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Дашборд МЕЗ: dash-api08.dniprovska.net • Конфіденційно • Для керівництва заводу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ЕЛЕКТРОННА ЧЕРГА CRM (ТІЛЬКИ ЧИТАННЯ: apgk_api08)</a:t>
            </a:r>
          </a:p>
          <a:p>
            <a:pPr>
              <a:spcAft>
                <a:spcPts val="800"/>
              </a:spcAft>
              <a:defRPr b="1" sz="1100">
                <a:solidFill>
                  <a:srgbClr val="1E293B"/>
                </a:solidFill>
              </a:defRPr>
            </a:pPr>
            <a:r>
              <a:t>🌻 Насіння соняшнику: </a:t>
            </a:r>
            <a:r>
              <a:rPr b="0" sz="1000">
                <a:solidFill>
                  <a:srgbClr val="64748B"/>
                </a:solidFill>
              </a:rPr>
              <a:t>Середній час перебування: ~115 хв • В межах норми</a:t>
            </a:r>
          </a:p>
          <a:p>
            <a:pPr>
              <a:spcAft>
                <a:spcPts val="800"/>
              </a:spcAft>
              <a:defRPr b="1" sz="1100">
                <a:solidFill>
                  <a:srgbClr val="1E293B"/>
                </a:solidFill>
              </a:defRPr>
            </a:pPr>
            <a:r>
              <a:t>💧 Олія нерафінована (автоцистерни): </a:t>
            </a:r>
            <a:r>
              <a:rPr b="0" sz="1000">
                <a:solidFill>
                  <a:srgbClr val="64748B"/>
                </a:solidFill>
              </a:rPr>
              <a:t>Середній час: ~95 хв • Швидке відвантаження</a:t>
            </a:r>
          </a:p>
          <a:p>
            <a:pPr>
              <a:spcAft>
                <a:spcPts val="800"/>
              </a:spcAft>
              <a:defRPr b="1" sz="1100">
                <a:solidFill>
                  <a:srgbClr val="1E293B"/>
                </a:solidFill>
              </a:defRPr>
            </a:pPr>
            <a:r>
              <a:t>🌾 Шрот гранульований / розсипний: </a:t>
            </a:r>
            <a:r>
              <a:rPr b="0" sz="1000">
                <a:solidFill>
                  <a:srgbClr val="64748B"/>
                </a:solidFill>
              </a:rPr>
              <a:t>Середній час: ~130 хв • Під контролем диспетчера</a:t>
            </a:r>
          </a:p>
          <a:p>
            <a:pPr>
              <a:spcAft>
                <a:spcPts val="800"/>
              </a:spcAft>
              <a:defRPr b="1" sz="1100">
                <a:solidFill>
                  <a:srgbClr val="1E293B"/>
                </a:solidFill>
              </a:defRPr>
            </a:pPr>
            <a:r>
              <a:t>🪵 Лузга соняшникова: </a:t>
            </a:r>
            <a:r>
              <a:rPr b="0" sz="1000">
                <a:solidFill>
                  <a:srgbClr val="64748B"/>
                </a:solidFill>
              </a:rPr>
              <a:t>Середній час: ~80 хв • Прямий вивіз покупцям</a:t>
            </a:r>
          </a:p>
          <a:p>
            <a:pPr>
              <a:spcAft>
                <a:spcPts val="800"/>
              </a:spcAft>
              <a:defRPr b="1" sz="1100">
                <a:solidFill>
                  <a:srgbClr val="1E293B"/>
                </a:solidFill>
              </a:defRPr>
            </a:pPr>
            <a:r>
              <a:t>⏱️ Контрольний ліміт перебування: </a:t>
            </a:r>
            <a:r>
              <a:rPr b="0" sz="1000">
                <a:solidFill>
                  <a:srgbClr val="64748B"/>
                </a:solidFill>
              </a:rPr>
              <a:t>120 хвилин. При перевищенні ліміту індикатор автоматично сигналізує жовтим або червоним кольором.</a:t>
            </a:r>
          </a:p>
          <a:p>
            <a:pPr>
              <a:spcAft>
                <a:spcPts val="800"/>
              </a:spcAft>
              <a:defRPr b="1" sz="1100">
                <a:solidFill>
                  <a:srgbClr val="1E293B"/>
                </a:solidFill>
              </a:defRPr>
            </a:pPr>
            <a:r>
              <a:t>🛡️ Безпека інтеграції: </a:t>
            </a:r>
            <a:r>
              <a:rPr b="0" sz="1000">
                <a:solidFill>
                  <a:srgbClr val="64748B"/>
                </a:solidFill>
              </a:rPr>
              <a:t>Режим Read-Only гарантує повну ізоляцію виробничої бази 1С/CRM від випадкових змін.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59669"/>
                </a:solidFill>
              </a:defRPr>
            </a:pPr>
            <a:r>
              <a:t>СКЛАДСЬКІ ЗАЛИШКИ ТА ЕНЕРГЕТИЧНЕ ПАЛИВО (СВОД)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💧 Олія в резервуарах заводу: </a:t>
            </a:r>
            <a:r>
              <a:rPr b="1">
                <a:solidFill>
                  <a:srgbClr val="0369A1"/>
                </a:solidFill>
              </a:rPr>
              <a:t>3 650,10 т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   ↳ Місткість 5 000 т • Заповнення: 73%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🌾 Шрот на складі підлогового збер.: </a:t>
            </a:r>
            <a:r>
              <a:rPr b="1">
                <a:solidFill>
                  <a:srgbClr val="0369A1"/>
                </a:solidFill>
              </a:rPr>
              <a:t>674,86 т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   ↳ Місткість 1 500 т • Заповнення: 45%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🪵 Лузга на складі: </a:t>
            </a:r>
            <a:r>
              <a:rPr b="1">
                <a:solidFill>
                  <a:srgbClr val="0369A1"/>
                </a:solidFill>
              </a:rPr>
              <a:t>166,77 т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   ↳ Місткість 500 т • Постійна ротація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🔥 Лузга на котельню (власне паливо): </a:t>
            </a:r>
            <a:r>
              <a:rPr b="1">
                <a:solidFill>
                  <a:srgbClr val="0369A1"/>
                </a:solidFill>
              </a:rPr>
              <a:t>Енергонезалежність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   ↳ Забезпечує 100% потреби в технологічній парі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ТОВ «АГРОПРОІНВЕСТ 08» • СИТУАЦІЙНИЙ ЦЕНТР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Блок В: Повний помісячний та добовий архів пари за 12 років (2015–2026 рр.)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Дашборд МЕЗ: dash-api08.dniprovska.net • Конфіденційно • Для керівництва заводу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УНІКАЛЬНИЙ АРХІВ ТЕХНОЛОГІЧНОЇ ПАРИ («УЧЕТ ПАРА НА ООО “АГРОПРОИНВЕСТ 08”»)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В системі оцифровано повну історію роботи парової котельні за 12 років (з 2015 по 2026 рік). За будь-який вибраний місяць керівник може миттєво побачити подобову таблицю виробництва пари, витрати на власні потреби (СН) та розподіл по технологічних споживачах без затримок.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606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Екстракція (МЕЗ)</a:t>
            </a:r>
          </a:p>
          <a:p>
            <a:pPr>
              <a:spcAft>
                <a:spcPts val="400"/>
              </a:spcAft>
              <a:defRPr sz="2200" b="1">
                <a:solidFill>
                  <a:srgbClr val="F59E0B"/>
                </a:solidFill>
              </a:defRPr>
            </a:pPr>
            <a:r>
              <a:t>58,4%</a:t>
            </a:r>
          </a:p>
          <a:p>
            <a:pPr>
              <a:spcAft>
                <a:spcPts val="800"/>
              </a:spcAft>
              <a:defRPr sz="1100" b="1">
                <a:solidFill>
                  <a:srgbClr val="0369A1"/>
                </a:solidFill>
              </a:defRPr>
            </a:pPr>
            <a:r>
              <a:t>1 076,80 т / міс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Основний споживач пари на підігрів місели та відгонку розчинника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834640"/>
            <a:ext cx="2606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97180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Підготовчий цех</a:t>
            </a:r>
          </a:p>
          <a:p>
            <a:pPr>
              <a:spcAft>
                <a:spcPts val="400"/>
              </a:spcAft>
              <a:defRPr sz="2200" b="1">
                <a:solidFill>
                  <a:srgbClr val="F59E0B"/>
                </a:solidFill>
              </a:defRPr>
            </a:pPr>
            <a:r>
              <a:t>41,1%</a:t>
            </a:r>
          </a:p>
          <a:p>
            <a:pPr>
              <a:spcAft>
                <a:spcPts val="800"/>
              </a:spcAft>
              <a:defRPr sz="1100" b="1">
                <a:solidFill>
                  <a:srgbClr val="0369A1"/>
                </a:solidFill>
              </a:defRPr>
            </a:pPr>
            <a:r>
              <a:t>758,39 т / міс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Кондиціонування та жаровні перед пресуванням м'ятки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834640"/>
            <a:ext cx="2606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97180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Власні потреби котельні (СН)</a:t>
            </a:r>
          </a:p>
          <a:p>
            <a:pPr>
              <a:spcAft>
                <a:spcPts val="400"/>
              </a:spcAft>
              <a:defRPr sz="2200" b="1">
                <a:solidFill>
                  <a:srgbClr val="F59E0B"/>
                </a:solidFill>
              </a:defRPr>
            </a:pPr>
            <a:r>
              <a:t>6,9%</a:t>
            </a:r>
          </a:p>
          <a:p>
            <a:pPr>
              <a:spcAft>
                <a:spcPts val="800"/>
              </a:spcAft>
              <a:defRPr sz="1100" b="1">
                <a:solidFill>
                  <a:srgbClr val="0369A1"/>
                </a:solidFill>
              </a:defRPr>
            </a:pPr>
            <a:r>
              <a:t>136,46 т / міс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Підігрів живильної води, деаерація та мазутне/газове господарство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834640"/>
            <a:ext cx="2606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297180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Питома норма на 1 т</a:t>
            </a:r>
          </a:p>
          <a:p>
            <a:pPr>
              <a:spcAft>
                <a:spcPts val="400"/>
              </a:spcAft>
              <a:defRPr sz="2200" b="1">
                <a:solidFill>
                  <a:srgbClr val="F59E0B"/>
                </a:solidFill>
              </a:defRPr>
            </a:pPr>
            <a:r>
              <a:t>208,9 кг/т</a:t>
            </a:r>
          </a:p>
          <a:p>
            <a:pPr>
              <a:spcAft>
                <a:spcPts val="800"/>
              </a:spcAft>
              <a:defRPr sz="1100" b="1">
                <a:solidFill>
                  <a:srgbClr val="0369A1"/>
                </a:solidFill>
              </a:defRPr>
            </a:pPr>
            <a:r>
              <a:t>Еталонний норматив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Контроль енергетичної ефективності на кожну перероблену тону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ТОВ «АГРОПРОІНВЕСТ 08» • СИТУАЦІЙНИЙ ЦЕНТР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Блок В: Помісячний баланс електроенергії, води та газу за 2026 рік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Дашборд МЕЗ: dash-api08.dniprovska.net • Конфіденційно • Для керівництва заводу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РОЗПОДІЛ ЗА ПІДРОЗДІЛАМИ ЗАВОДУ (АРХІВ 2026)</a:t>
            </a:r>
          </a:p>
          <a:p>
            <a:pPr>
              <a:spcAft>
                <a:spcPts val="600"/>
              </a:spcAft>
              <a:defRPr b="1" sz="1050">
                <a:solidFill>
                  <a:srgbClr val="1E293B"/>
                </a:solidFill>
              </a:defRPr>
            </a:pPr>
            <a:r>
              <a:t>• Повний помісячний архів (Січень — Жовтень 2026): </a:t>
            </a:r>
            <a:r>
              <a:rPr b="0" sz="1000">
                <a:solidFill>
                  <a:srgbClr val="64748B"/>
                </a:solidFill>
              </a:rPr>
              <a:t>Оцифровано всі місяці роботи заводу з переробкою від 4,5 тис. до 14,6 тис. т/міс.</a:t>
            </a:r>
          </a:p>
          <a:p>
            <a:pPr>
              <a:spcAft>
                <a:spcPts val="600"/>
              </a:spcAft>
              <a:defRPr b="1" sz="1050">
                <a:solidFill>
                  <a:srgbClr val="1E293B"/>
                </a:solidFill>
              </a:defRPr>
            </a:pPr>
            <a:r>
              <a:t>• Інтерактивні випадаючі списки: </a:t>
            </a:r>
            <a:r>
              <a:rPr b="0" sz="1000">
                <a:solidFill>
                  <a:srgbClr val="64748B"/>
                </a:solidFill>
              </a:rPr>
              <a:t>Розміщені безпосередньо у шапці Блоку В та в заголовку таблиці підрозділів. Перемикання в 1 клік без перезавантаження.</a:t>
            </a:r>
          </a:p>
          <a:p>
            <a:pPr>
              <a:spcAft>
                <a:spcPts val="600"/>
              </a:spcAft>
              <a:defRPr b="1" sz="1050">
                <a:solidFill>
                  <a:srgbClr val="1E293B"/>
                </a:solidFill>
              </a:defRPr>
            </a:pPr>
            <a:r>
              <a:t>• Питома норма споживання ел.енергії: </a:t>
            </a:r>
            <a:r>
              <a:rPr b="0" sz="1000">
                <a:solidFill>
                  <a:srgbClr val="64748B"/>
                </a:solidFill>
              </a:rPr>
              <a:t>54,97 кВт/т у звітний період (Пресовий цех: ~60,9 кВт/т, Дільниця екстракції: ~23,9 кВт/т).</a:t>
            </a:r>
          </a:p>
          <a:p>
            <a:pPr>
              <a:spcAft>
                <a:spcPts val="600"/>
              </a:spcAft>
              <a:defRPr b="1" sz="1050">
                <a:solidFill>
                  <a:srgbClr val="1E293B"/>
                </a:solidFill>
              </a:defRPr>
            </a:pPr>
            <a:r>
              <a:t>• Облік природного газу: </a:t>
            </a:r>
            <a:r>
              <a:rPr b="0" sz="1000">
                <a:solidFill>
                  <a:srgbClr val="64748B"/>
                </a:solidFill>
              </a:rPr>
              <a:t>Додано окрему колонку для котельні природного газу (робота в січні, лютому, березні, червні, липні та вересні).</a:t>
            </a:r>
          </a:p>
          <a:p>
            <a:pPr>
              <a:spcAft>
                <a:spcPts val="600"/>
              </a:spcAft>
              <a:defRPr b="1" sz="1050">
                <a:solidFill>
                  <a:srgbClr val="1E293B"/>
                </a:solidFill>
              </a:defRPr>
            </a:pPr>
            <a:r>
              <a:t>• Підсумковий рядок РАЗОМ: </a:t>
            </a:r>
            <a:r>
              <a:rPr b="0" sz="1000">
                <a:solidFill>
                  <a:srgbClr val="64748B"/>
                </a:solidFill>
              </a:rPr>
              <a:t>Автоматично підсумовує активну, реактивну ел.енергію, воду, стоки та розраховує середньозважену питому норму.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ВОДОПОСТАЧАННЯ, СТОКИ ТА ПРИРОДНИЙ ГАЗ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💧 Споживання води за лічильником: </a:t>
            </a:r>
            <a:r>
              <a:rPr b="1">
                <a:solidFill>
                  <a:srgbClr val="059669"/>
                </a:solidFill>
              </a:rPr>
              <a:t>1 645,0 м³/міс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~54,8 м³/добу • Водозабір та станція 2-го підйому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🌊 Скидання виробничих стоків: </a:t>
            </a:r>
            <a:r>
              <a:rPr b="1">
                <a:solidFill>
                  <a:srgbClr val="059669"/>
                </a:solidFill>
              </a:rPr>
              <a:t>1 150,0 м³/міс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Очисні споруди та каналізація МЕЗ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💨 Витрата води на котельню: </a:t>
            </a:r>
            <a:r>
              <a:rPr b="1">
                <a:solidFill>
                  <a:srgbClr val="059669"/>
                </a:solidFill>
              </a:rPr>
              <a:t>1 023,0 м³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Пермеат та підживлення парових котлів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🔥 Витрата води на екстракцію: </a:t>
            </a:r>
            <a:r>
              <a:rPr b="1">
                <a:solidFill>
                  <a:srgbClr val="059669"/>
                </a:solidFill>
              </a:rPr>
              <a:t>544,0 м³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Охолодження дефлегматорів та конденсаторів</a:t>
            </a:r>
          </a:p>
          <a:p>
            <a:pPr>
              <a:defRPr b="0" sz="1100">
                <a:solidFill>
                  <a:srgbClr val="1E293B"/>
                </a:solidFill>
              </a:defRPr>
            </a:pPr>
            <a:r>
              <a:t>• ⚡ Реактивна потужність (cos φ): </a:t>
            </a:r>
            <a:r>
              <a:rPr b="1">
                <a:solidFill>
                  <a:srgbClr val="059669"/>
                </a:solidFill>
              </a:rPr>
              <a:t>Контроль компенсації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Моніторинг реактивної енергії запобігає штрафам обленерго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ТОВ «АГРОПРОІНВЕСТ 08» • СИТУАЦІЙНИЙ ЦЕНТР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Блок Г: Стратегічний бенчмаркінг сезонів (2026–2027 vs 2025–2026)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Дашборд МЕЗ: dash-api08.dniprovska.net • Конфіденційно • Для керівництва заводу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⚙️ Переробка соняшнику</a:t>
            </a:r>
          </a:p>
          <a:p>
            <a:pPr>
              <a:defRPr sz="2200" b="1">
                <a:solidFill>
                  <a:srgbClr val="0369A1"/>
                </a:solidFill>
              </a:defRPr>
            </a:pPr>
            <a:r>
              <a:t>309,0 т</a:t>
            </a:r>
          </a:p>
          <a:p>
            <a:pPr>
              <a:defRPr sz="1000" b="1">
                <a:solidFill>
                  <a:srgbClr val="059669"/>
                </a:solidFill>
              </a:defRPr>
            </a:pPr>
            <a:r>
              <a:t>Аналог 2025: 538,1 т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Вихід на плановий темп після запуску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2801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37160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💧 Вихід олії (ефективність)</a:t>
            </a:r>
          </a:p>
          <a:p>
            <a:pPr>
              <a:defRPr sz="2200" b="1">
                <a:solidFill>
                  <a:srgbClr val="0369A1"/>
                </a:solidFill>
              </a:defRPr>
            </a:pPr>
            <a:r>
              <a:t>48,31%</a:t>
            </a:r>
          </a:p>
          <a:p>
            <a:pPr>
              <a:defRPr sz="1000" b="1">
                <a:solidFill>
                  <a:srgbClr val="059669"/>
                </a:solidFill>
              </a:defRPr>
            </a:pPr>
            <a:r>
              <a:t>Еталон 2025: 44,45%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+3,86% вище за сезон 2025 року!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801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37160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🌾 Вихід шроту (високий протеїн)</a:t>
            </a:r>
          </a:p>
          <a:p>
            <a:pPr>
              <a:defRPr sz="2200" b="1">
                <a:solidFill>
                  <a:srgbClr val="0369A1"/>
                </a:solidFill>
              </a:defRPr>
            </a:pPr>
            <a:r>
              <a:t>50,53%</a:t>
            </a:r>
          </a:p>
          <a:p>
            <a:pPr>
              <a:defRPr sz="1000" b="1">
                <a:solidFill>
                  <a:srgbClr val="059669"/>
                </a:solidFill>
              </a:defRPr>
            </a:pPr>
            <a:r>
              <a:t>Еталон 2025: 41,76%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+8,77% перевищення норми виходу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2801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37160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⚖️ Сума цінних фракцій (Олія+Шрот)</a:t>
            </a:r>
          </a:p>
          <a:p>
            <a:pPr>
              <a:defRPr sz="2200" b="1">
                <a:solidFill>
                  <a:srgbClr val="0369A1"/>
                </a:solidFill>
              </a:defRPr>
            </a:pPr>
            <a:r>
              <a:t>98,84%</a:t>
            </a:r>
          </a:p>
          <a:p>
            <a:pPr>
              <a:defRPr sz="1000" b="1">
                <a:solidFill>
                  <a:srgbClr val="059669"/>
                </a:solidFill>
              </a:defRPr>
            </a:pPr>
            <a:r>
              <a:t>Еталон 2025: 86,21%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+12,63% максимальне використання сировини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369A1"/>
                </a:solidFill>
              </a:defRPr>
            </a:pPr>
            <a:r>
              <a:t>ВИСНОВКИ СТРАТЕГІЧНОГО АНАЛІЗУ СЕЗОНУ</a:t>
            </a:r>
          </a:p>
          <a:p>
            <a:pPr>
              <a:spcAft>
                <a:spcPts val="500"/>
              </a:spcAft>
              <a:defRPr b="1" sz="1050">
                <a:solidFill>
                  <a:srgbClr val="1E293B"/>
                </a:solidFill>
              </a:defRPr>
            </a:pPr>
            <a:r>
              <a:t>• Якість переробки вища за минулорічну: </a:t>
            </a:r>
            <a:r>
              <a:rPr b="0" sz="1000">
                <a:solidFill>
                  <a:srgbClr val="64748B"/>
                </a:solidFill>
              </a:rPr>
              <a:t>Завдяки стабільній роботі рушкувально-війочного та екстракційного цехів вихід олії на 3,86% перевищує еталон сезону 2025–2026.</a:t>
            </a:r>
          </a:p>
          <a:p>
            <a:pPr>
              <a:spcAft>
                <a:spcPts val="500"/>
              </a:spcAft>
              <a:defRPr b="1" sz="1050">
                <a:solidFill>
                  <a:srgbClr val="1E293B"/>
                </a:solidFill>
              </a:defRPr>
            </a:pPr>
            <a:r>
              <a:t>• Сировинна безпека заводу: </a:t>
            </a:r>
            <a:r>
              <a:rPr b="0" sz="1000">
                <a:solidFill>
                  <a:srgbClr val="64748B"/>
                </a:solidFill>
              </a:rPr>
              <a:t>Залишок насіння на елеваторі забезпечує понад 21 добу безперервної роботи навіть за повної відсутності нового завезення.</a:t>
            </a:r>
          </a:p>
          <a:p>
            <a:pPr>
              <a:spcAft>
                <a:spcPts val="500"/>
              </a:spcAft>
              <a:defRPr b="1" sz="1050">
                <a:solidFill>
                  <a:srgbClr val="1E293B"/>
                </a:solidFill>
              </a:defRPr>
            </a:pPr>
            <a:r>
              <a:t>• Виконання договорів поставки: </a:t>
            </a:r>
            <a:r>
              <a:rPr b="0" sz="1000">
                <a:solidFill>
                  <a:srgbClr val="64748B"/>
                </a:solidFill>
              </a:rPr>
              <a:t>Активно виконується 11 специфікацій на довіз насіння з середнім відсотком виконання понад 85%.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ТОВ «АГРОПРОІНВЕСТ 08» • СИТУАЦІЙНИЙ ЦЕНТР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Технічна надійність, безпека та архітектура рішення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Дашборд МЕЗ: dash-api08.dniprovska.net • Конфіденційно • Для керівництва заводу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Швидкодія та стек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PHP 8.2 + MySQL / JSON State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Чистий Vanilla JS (без важких фреймворків)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Час відгуку дашборда &lt; 200 мс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Автономна робота без сторонніх хмар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383280" cy="731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258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Інформаційна безпека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Рольовий доступ користувачів (RBAC)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Виробничі бази 1С/CRM строго Read-Only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Повна ізоляція паролів та секретів конфігурації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Захист сесій та журнал дій користувачів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383280" cy="7315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3258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Автоматизація та експорт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Автооновлення даних за таймером кожні 30 с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Експорт у формат Excel, PDF, CSV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Повна збірка інсталяційного пакету ZIP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Готовність до розгортання в HestiaCP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РЕЗЮМЕ ТА НАСТУПНІ КРОКИ РОЗВИТКУ СИСТЕМИ</a:t>
            </a:r>
          </a:p>
          <a:p>
            <a:pPr>
              <a:spcAft>
                <a:spcPts val="1400"/>
              </a:spcAft>
              <a:defRPr b="1" sz="1300">
                <a:solidFill>
                  <a:srgbClr val="0284C7"/>
                </a:solidFill>
              </a:defRPr>
            </a:pPr>
            <a:r>
              <a:t>1. Прозорість та керованість: </a:t>
            </a:r>
            <a:r>
              <a:rPr b="0" sz="1200">
                <a:solidFill>
                  <a:srgbClr val="E2E8F0"/>
                </a:solidFill>
              </a:rPr>
              <a:t>Керівництво отримує об'єктивну картину заводу в один клік — від тоннажу насіння до кубометрів газу та кілограмів пари.</a:t>
            </a:r>
          </a:p>
          <a:p>
            <a:pPr>
              <a:spcAft>
                <a:spcPts val="1400"/>
              </a:spcAft>
              <a:defRPr b="1" sz="1300">
                <a:solidFill>
                  <a:srgbClr val="0284C7"/>
                </a:solidFill>
              </a:defRPr>
            </a:pPr>
            <a:r>
              <a:t>2. Економія робочого часу: </a:t>
            </a:r>
            <a:r>
              <a:rPr b="0" sz="1200">
                <a:solidFill>
                  <a:srgbClr val="E2E8F0"/>
                </a:solidFill>
              </a:rPr>
              <a:t>Звільнення інженерів, технологів та диспетчерів від ручного зведення Excel-таблиць (економія до 3 годин робочого часу на добу).</a:t>
            </a:r>
          </a:p>
          <a:p>
            <a:pPr>
              <a:spcAft>
                <a:spcPts val="1400"/>
              </a:spcAft>
              <a:defRPr b="1" sz="1300">
                <a:solidFill>
                  <a:srgbClr val="0284C7"/>
                </a:solidFill>
              </a:defRPr>
            </a:pPr>
            <a:r>
              <a:t>3. Миттєве виявлення втрат: </a:t>
            </a:r>
            <a:r>
              <a:rPr b="0" sz="1200">
                <a:solidFill>
                  <a:srgbClr val="E2E8F0"/>
                </a:solidFill>
              </a:rPr>
              <a:t>Автоматичний контроль олійності шроту/лузги та неврахованих втрат олії захищає завод від технологічних збитків.</a:t>
            </a:r>
          </a:p>
          <a:p>
            <a:pPr>
              <a:spcAft>
                <a:spcPts val="1400"/>
              </a:spcAft>
              <a:defRPr b="1" sz="1300">
                <a:solidFill>
                  <a:srgbClr val="0284C7"/>
                </a:solidFill>
              </a:defRPr>
            </a:pPr>
            <a:r>
              <a:t>4. Плани масштабування (Фаза 2): </a:t>
            </a:r>
            <a:r>
              <a:rPr b="0" sz="1200">
                <a:solidFill>
                  <a:srgbClr val="E2E8F0"/>
                </a:solidFill>
              </a:rPr>
              <a:t>Пряме підключення датчиків SCADA/Zabbix до насосів та пресів, автоматичне прогнозування виходу продукції та аналітика витрат на базі ШІ.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